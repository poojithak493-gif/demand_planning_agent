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57" r:id="rId3"/>
    <p:sldId id="269" r:id="rId4"/>
    <p:sldId id="258" r:id="rId5"/>
    <p:sldId id="280" r:id="rId6"/>
    <p:sldId id="261" r:id="rId7"/>
    <p:sldId id="272" r:id="rId8"/>
    <p:sldId id="279" r:id="rId9"/>
    <p:sldId id="268" r:id="rId10"/>
    <p:sldId id="262" r:id="rId11"/>
    <p:sldId id="278" r:id="rId12"/>
    <p:sldId id="277" r:id="rId13"/>
    <p:sldId id="273" r:id="rId14"/>
    <p:sldId id="267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01"/>
  </p:normalViewPr>
  <p:slideViewPr>
    <p:cSldViewPr snapToGrid="0" snapToObjects="1">
      <p:cViewPr varScale="1">
        <p:scale>
          <a:sx n="91" d="100"/>
          <a:sy n="91" d="100"/>
        </p:scale>
        <p:origin x="7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874138"/>
            <a:ext cx="2057400" cy="273844"/>
          </a:xfrm>
        </p:spPr>
        <p:txBody>
          <a:bodyPr/>
          <a:lstStyle/>
          <a:p>
            <a:fld id="{02989721-2E5E-A74E-BDA4-3350CBAAF42E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874138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874138"/>
            <a:ext cx="2057400" cy="273844"/>
          </a:xfrm>
        </p:spPr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704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822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844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69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323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326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971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882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88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641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404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989721-2E5E-A74E-BDA4-3350CBAAF42E}" type="datetimeFigureOut">
              <a:rPr lang="en-US" smtClean="0"/>
              <a:t>8/4/2023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424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lli@kennesaw.edu" TargetMode="External"/><Relationship Id="rId2" Type="http://schemas.openxmlformats.org/officeDocument/2006/relationships/hyperlink" Target="mailto:yshi5@kennesaw.edu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gradccse@kennesaw.edu" TargetMode="External"/><Relationship Id="rId4" Type="http://schemas.openxmlformats.org/officeDocument/2006/relationships/hyperlink" Target="mailto:rparizi1@kennesaw.edu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atalog.kennesaw.edu/index.php?catoid=67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atalog.kennesaw.edu/index.php?catoid=67" TargetMode="External"/><Relationship Id="rId2" Type="http://schemas.openxmlformats.org/officeDocument/2006/relationships/hyperlink" Target="https://scai.kennesaw.edu/KSU_Codes_of_Conduct_2019-2020.pdf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ennesaw.edu/registrar/academic-calendars/academic-calendar-fall-2023.php" TargetMode="External"/><Relationship Id="rId2" Type="http://schemas.openxmlformats.org/officeDocument/2006/relationships/hyperlink" Target="https://gradorientation.kennesaw.edu/" TargetMode="Externa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catalog.kennesaw.edu/index.php?catoid=67" TargetMode="External"/><Relationship Id="rId4" Type="http://schemas.openxmlformats.org/officeDocument/2006/relationships/hyperlink" Target="https://registrar.kennesaw.edu/student-registration/index.php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fOYCITKjWNM&amp;feature=youtu.be" TargetMode="External"/><Relationship Id="rId2" Type="http://schemas.openxmlformats.org/officeDocument/2006/relationships/hyperlink" Target="https://uits.kennesaw.edu/support/newstudents.php" TargetMode="Externa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mailto:ksugrad@kennesaw.edu" TargetMode="Externa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mailto:finaid@kennesaw.edu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registrar.kennesaw.edu/cpos/index.php" TargetMode="Externa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ccse.kennesaw.edu/student-resources/fa_apps.php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cse.kennesaw.edu/resources/ostw.php" TargetMode="External"/><Relationship Id="rId2" Type="http://schemas.openxmlformats.org/officeDocument/2006/relationships/hyperlink" Target="https://gradassistantships.kennesaw.edu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dtatum7@kennesaw.edu)-" TargetMode="External"/><Relationship Id="rId2" Type="http://schemas.openxmlformats.org/officeDocument/2006/relationships/hyperlink" Target="mailto:ccseinternship@Kennesaw.edu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3026736"/>
            <a:ext cx="7100777" cy="160725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Palatino Linotype" panose="02040502050505030304" pitchFamily="18" charset="0"/>
              </a:rPr>
              <a:t/>
            </a:r>
            <a:br>
              <a:rPr lang="en-US" dirty="0">
                <a:latin typeface="Palatino Linotype" panose="02040502050505030304" pitchFamily="18" charset="0"/>
              </a:rPr>
            </a:br>
            <a:r>
              <a:rPr lang="en-US" dirty="0">
                <a:latin typeface="Palatino Linotype" panose="02040502050505030304" pitchFamily="18" charset="0"/>
              </a:rPr>
              <a:t/>
            </a:r>
            <a:br>
              <a:rPr lang="en-US" dirty="0">
                <a:latin typeface="Palatino Linotype" panose="02040502050505030304" pitchFamily="18" charset="0"/>
              </a:rPr>
            </a:br>
            <a:r>
              <a:rPr lang="en-US" dirty="0">
                <a:latin typeface="Palatino Linotype" panose="02040502050505030304" pitchFamily="18" charset="0"/>
              </a:rPr>
              <a:t/>
            </a:r>
            <a:br>
              <a:rPr lang="en-US" dirty="0">
                <a:latin typeface="Palatino Linotype" panose="02040502050505030304" pitchFamily="18" charset="0"/>
              </a:rPr>
            </a:br>
            <a:r>
              <a:rPr lang="en-US" dirty="0">
                <a:latin typeface="Palatino Linotype" panose="02040502050505030304" pitchFamily="18" charset="0"/>
              </a:rPr>
              <a:t/>
            </a:r>
            <a:br>
              <a:rPr lang="en-US" dirty="0">
                <a:latin typeface="Palatino Linotype" panose="02040502050505030304" pitchFamily="18" charset="0"/>
              </a:rPr>
            </a:br>
            <a:r>
              <a:rPr lang="en-US" sz="3900" dirty="0">
                <a:latin typeface="Palatino Linotype" panose="02040502050505030304" pitchFamily="18" charset="0"/>
              </a:rPr>
              <a:t>The College of Computing and Software Engineering</a:t>
            </a:r>
            <a:br>
              <a:rPr lang="en-US" sz="3900" dirty="0">
                <a:latin typeface="Palatino Linotype" panose="02040502050505030304" pitchFamily="18" charset="0"/>
              </a:rPr>
            </a:br>
            <a:r>
              <a:rPr lang="en-US" sz="3900" dirty="0">
                <a:latin typeface="Palatino Linotype" panose="02040502050505030304" pitchFamily="18" charset="0"/>
              </a:rPr>
              <a:t>at </a:t>
            </a:r>
            <a:br>
              <a:rPr lang="en-US" sz="3900" dirty="0">
                <a:latin typeface="Palatino Linotype" panose="02040502050505030304" pitchFamily="18" charset="0"/>
              </a:rPr>
            </a:br>
            <a:r>
              <a:rPr lang="en-US" sz="3900" dirty="0">
                <a:latin typeface="Palatino Linotype" panose="02040502050505030304" pitchFamily="18" charset="0"/>
              </a:rPr>
              <a:t>Kennesaw State University</a:t>
            </a:r>
            <a:r>
              <a:rPr lang="en-US" dirty="0">
                <a:latin typeface="Palatino Linotype" panose="02040502050505030304" pitchFamily="18" charset="0"/>
              </a:rPr>
              <a:t/>
            </a:r>
            <a:br>
              <a:rPr lang="en-US" dirty="0">
                <a:latin typeface="Palatino Linotype" panose="02040502050505030304" pitchFamily="18" charset="0"/>
              </a:rPr>
            </a:br>
            <a:r>
              <a:rPr lang="en-US" dirty="0">
                <a:latin typeface="Palatino Linotype" panose="02040502050505030304" pitchFamily="18" charset="0"/>
              </a:rPr>
              <a:t/>
            </a:r>
            <a:br>
              <a:rPr lang="en-US" dirty="0">
                <a:latin typeface="Palatino Linotype" panose="02040502050505030304" pitchFamily="18" charset="0"/>
              </a:rPr>
            </a:br>
            <a:r>
              <a:rPr lang="en-US" dirty="0">
                <a:latin typeface="Palatino Linotype" panose="02040502050505030304" pitchFamily="18" charset="0"/>
              </a:rPr>
              <a:t/>
            </a:r>
            <a:br>
              <a:rPr lang="en-US" dirty="0">
                <a:latin typeface="Palatino Linotype" panose="02040502050505030304" pitchFamily="18" charset="0"/>
              </a:rPr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260652"/>
            <a:ext cx="6858000" cy="165867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Please mute yourselves and turn off your cameras.  It helps to eliminate the background noise.</a:t>
            </a: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http://ccse.kennesaw.edu</a:t>
            </a:r>
          </a:p>
          <a:p>
            <a:endParaRPr lang="en-US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3411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1574" y="464214"/>
            <a:ext cx="6858000" cy="63584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Palatino Linotype" panose="02040502050505030304" pitchFamily="18" charset="0"/>
              </a:rPr>
              <a:t>Administrators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4290" y="951871"/>
            <a:ext cx="7296806" cy="3819826"/>
          </a:xfrm>
        </p:spPr>
        <p:txBody>
          <a:bodyPr>
            <a:normAutofit fontScale="25000" lnSpcReduction="20000"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6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8000" dirty="0">
                <a:latin typeface="Palatino Linotype" panose="02040502050505030304" pitchFamily="18" charset="0"/>
              </a:rPr>
              <a:t>Dr. </a:t>
            </a:r>
            <a:r>
              <a:rPr lang="en-US" sz="8000" dirty="0" err="1">
                <a:latin typeface="Palatino Linotype" panose="02040502050505030304" pitchFamily="18" charset="0"/>
              </a:rPr>
              <a:t>Sumanth</a:t>
            </a:r>
            <a:r>
              <a:rPr lang="en-US" sz="8000" dirty="0">
                <a:latin typeface="Palatino Linotype" panose="02040502050505030304" pitchFamily="18" charset="0"/>
              </a:rPr>
              <a:t> Yenduri– Dean of College of Computing and Software Engineering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8000" dirty="0">
              <a:latin typeface="Palatino Linotype" panose="0204050205050503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8000" dirty="0">
                <a:latin typeface="Palatino Linotype" panose="02040502050505030304" pitchFamily="18" charset="0"/>
              </a:rPr>
              <a:t>Dr. Lei Li- Associate Dean for Student Success in CCSE</a:t>
            </a:r>
          </a:p>
          <a:p>
            <a:pPr algn="l"/>
            <a:endParaRPr lang="en-US" sz="8000" dirty="0">
              <a:latin typeface="Palatino Linotype" panose="0204050205050503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8000" dirty="0">
                <a:latin typeface="Palatino Linotype" panose="02040502050505030304" pitchFamily="18" charset="0"/>
              </a:rPr>
              <a:t>Dr. Yong Pei– Chair, CS Department</a:t>
            </a:r>
          </a:p>
          <a:p>
            <a:pPr algn="l"/>
            <a:r>
              <a:rPr lang="en-US" sz="8000" dirty="0">
                <a:latin typeface="Palatino Linotype" panose="02040502050505030304" pitchFamily="18" charset="0"/>
              </a:rPr>
              <a:t>   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8000" dirty="0">
                <a:latin typeface="Palatino Linotype" panose="02040502050505030304" pitchFamily="18" charset="0"/>
              </a:rPr>
              <a:t>Dr. </a:t>
            </a:r>
            <a:r>
              <a:rPr lang="en-US" sz="8000" dirty="0" err="1">
                <a:latin typeface="Palatino Linotype" panose="02040502050505030304" pitchFamily="18" charset="0"/>
              </a:rPr>
              <a:t>Shaoen</a:t>
            </a:r>
            <a:r>
              <a:rPr lang="en-US" sz="8000" dirty="0">
                <a:latin typeface="Palatino Linotype" panose="02040502050505030304" pitchFamily="18" charset="0"/>
              </a:rPr>
              <a:t> Wu– Chair, IT Department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8000" dirty="0">
              <a:latin typeface="Palatino Linotype" panose="0204050205050503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8000" dirty="0">
                <a:latin typeface="Palatino Linotype" panose="02040502050505030304" pitchFamily="18" charset="0"/>
              </a:rPr>
              <a:t>Dr. George </a:t>
            </a:r>
            <a:r>
              <a:rPr lang="en-US" sz="8000" dirty="0" err="1">
                <a:latin typeface="Palatino Linotype" panose="02040502050505030304" pitchFamily="18" charset="0"/>
              </a:rPr>
              <a:t>Markowsky</a:t>
            </a:r>
            <a:r>
              <a:rPr lang="en-US" sz="8000" dirty="0">
                <a:latin typeface="Palatino Linotype" panose="02040502050505030304" pitchFamily="18" charset="0"/>
              </a:rPr>
              <a:t>– Chair, SWEGD Department</a:t>
            </a:r>
          </a:p>
          <a:p>
            <a:pPr algn="l"/>
            <a:endParaRPr lang="en-US" sz="8000" dirty="0">
              <a:latin typeface="Palatino Linotype" panose="02040502050505030304" pitchFamily="18" charset="0"/>
            </a:endParaRPr>
          </a:p>
          <a:p>
            <a:pPr algn="l"/>
            <a:endParaRPr lang="en-US" sz="8000" dirty="0">
              <a:latin typeface="Palatino Linotype" panose="0204050205050503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504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55F44-0A91-428B-9C71-8DFEBCCDA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100" dirty="0">
                <a:latin typeface="Palatino Linotype" panose="02040502050505030304" pitchFamily="18" charset="0"/>
              </a:rPr>
              <a:t>Program Coordinators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CFBBF-84D9-4F56-8234-75AAD7AAD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63657"/>
            <a:ext cx="7886700" cy="3263504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Palatino Linotype" panose="02040502050505030304" pitchFamily="18" charset="0"/>
              </a:rPr>
              <a:t>Dr. Yong Shi (</a:t>
            </a:r>
            <a:r>
              <a:rPr lang="en-US" sz="2400" dirty="0">
                <a:latin typeface="Palatino Linotype" panose="02040502050505030304" pitchFamily="18" charset="0"/>
                <a:hlinkClick r:id="rId2"/>
              </a:rPr>
              <a:t>yshi5@kennesaw.edu</a:t>
            </a:r>
            <a:r>
              <a:rPr lang="en-US" sz="2400" dirty="0">
                <a:latin typeface="Palatino Linotype" panose="02040502050505030304" pitchFamily="18" charset="0"/>
              </a:rPr>
              <a:t>) – MSCS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Dr. Shirley Tian (</a:t>
            </a:r>
            <a:r>
              <a:rPr lang="en-US" sz="2400" dirty="0">
                <a:latin typeface="Palatino Linotype" panose="02040502050505030304" pitchFamily="18" charset="0"/>
                <a:hlinkClick r:id="rId3"/>
              </a:rPr>
              <a:t>xtian2@kennesaw.edu</a:t>
            </a:r>
            <a:r>
              <a:rPr lang="en-US" sz="2400" dirty="0">
                <a:latin typeface="Palatino Linotype" panose="02040502050505030304" pitchFamily="18" charset="0"/>
              </a:rPr>
              <a:t>) – MSIT  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Dr. Reza Parizi (</a:t>
            </a:r>
            <a:r>
              <a:rPr lang="en-US" sz="2400" dirty="0">
                <a:latin typeface="Palatino Linotype" panose="02040502050505030304" pitchFamily="18" charset="0"/>
                <a:hlinkClick r:id="rId4"/>
              </a:rPr>
              <a:t>rparizi1@kennesaw.edu</a:t>
            </a:r>
            <a:r>
              <a:rPr lang="en-US" sz="2400" dirty="0">
                <a:latin typeface="Palatino Linotype" panose="02040502050505030304" pitchFamily="18" charset="0"/>
              </a:rPr>
              <a:t>) - MSSWE </a:t>
            </a:r>
          </a:p>
          <a:p>
            <a:endParaRPr lang="en-US" sz="2400" dirty="0">
              <a:latin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Mrs. Melinda Ross (</a:t>
            </a:r>
            <a:r>
              <a:rPr lang="en-US" sz="2400" dirty="0">
                <a:latin typeface="Palatino Linotype" panose="02040502050505030304" pitchFamily="18" charset="0"/>
                <a:hlinkClick r:id="rId5"/>
              </a:rPr>
              <a:t>gradccse@kennesaw.edu</a:t>
            </a:r>
            <a:r>
              <a:rPr lang="en-US" sz="2400" dirty="0">
                <a:latin typeface="Palatino Linotype" panose="02040502050505030304" pitchFamily="18" charset="0"/>
              </a:rPr>
              <a:t>) – Director of Graduate Student Support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04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Palatino Linotype" panose="02040502050505030304" pitchFamily="18" charset="0"/>
              </a:rPr>
              <a:t>Academic Policies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90497" y="1053412"/>
            <a:ext cx="7886700" cy="3263504"/>
          </a:xfrm>
        </p:spPr>
        <p:txBody>
          <a:bodyPr>
            <a:normAutofit fontScale="25000" lnSpcReduction="20000"/>
          </a:bodyPr>
          <a:lstStyle/>
          <a:p>
            <a:r>
              <a:rPr lang="en-US" altLang="en-US" sz="6400" dirty="0">
                <a:latin typeface="Palatino Linotype" panose="02040502050505030304" pitchFamily="18" charset="0"/>
              </a:rPr>
              <a:t>Must maintain a 3.0+ GPA to remain in the program &amp; for graduation</a:t>
            </a:r>
          </a:p>
          <a:p>
            <a:endParaRPr lang="en-US" altLang="en-US" sz="6400" dirty="0">
              <a:latin typeface="Palatino Linotype" panose="02040502050505030304" pitchFamily="18" charset="0"/>
            </a:endParaRPr>
          </a:p>
          <a:p>
            <a:r>
              <a:rPr lang="en-US" altLang="en-US" sz="6400" dirty="0">
                <a:latin typeface="Palatino Linotype" panose="02040502050505030304" pitchFamily="18" charset="0"/>
              </a:rPr>
              <a:t>If GPA falls below 3.0, you will be placed on probation  </a:t>
            </a:r>
          </a:p>
          <a:p>
            <a:pPr marL="0" indent="0">
              <a:buNone/>
            </a:pPr>
            <a:r>
              <a:rPr lang="en-US" altLang="en-US" sz="6400" dirty="0">
                <a:latin typeface="Palatino Linotype" panose="02040502050505030304" pitchFamily="18" charset="0"/>
              </a:rPr>
              <a:t>    - will have two semester to raise GPA to 3.0</a:t>
            </a:r>
          </a:p>
          <a:p>
            <a:pPr marL="0" indent="0">
              <a:buNone/>
            </a:pPr>
            <a:r>
              <a:rPr lang="en-US" altLang="en-US" sz="6400" dirty="0">
                <a:latin typeface="Palatino Linotype" panose="02040502050505030304" pitchFamily="18" charset="0"/>
              </a:rPr>
              <a:t>    - if GPA is not raised to 3.0 while on probation, the student will be dismissed </a:t>
            </a:r>
          </a:p>
          <a:p>
            <a:pPr marL="0" indent="0">
              <a:buNone/>
            </a:pPr>
            <a:r>
              <a:rPr lang="en-US" altLang="en-US" sz="6400" dirty="0">
                <a:latin typeface="Palatino Linotype" panose="02040502050505030304" pitchFamily="18" charset="0"/>
              </a:rPr>
              <a:t> </a:t>
            </a:r>
          </a:p>
          <a:p>
            <a:r>
              <a:rPr lang="en-US" altLang="en-US" sz="6400" dirty="0">
                <a:latin typeface="Palatino Linotype" panose="02040502050505030304" pitchFamily="18" charset="0"/>
              </a:rPr>
              <a:t>If dismissed, </a:t>
            </a:r>
          </a:p>
          <a:p>
            <a:pPr marL="0" indent="0">
              <a:buNone/>
            </a:pPr>
            <a:r>
              <a:rPr lang="en-US" altLang="en-US" sz="6400" dirty="0">
                <a:latin typeface="Palatino Linotype" panose="02040502050505030304" pitchFamily="18" charset="0"/>
              </a:rPr>
              <a:t>    - must sit out at least one semester</a:t>
            </a:r>
          </a:p>
          <a:p>
            <a:pPr marL="0" indent="0">
              <a:buNone/>
            </a:pPr>
            <a:r>
              <a:rPr lang="en-US" altLang="en-US" sz="6400" dirty="0">
                <a:latin typeface="Palatino Linotype" panose="02040502050505030304" pitchFamily="18" charset="0"/>
              </a:rPr>
              <a:t>    - If seeking to return, must submit a request for reinstatement   </a:t>
            </a:r>
          </a:p>
          <a:p>
            <a:pPr marL="0" indent="0">
              <a:buNone/>
            </a:pPr>
            <a:r>
              <a:rPr lang="en-US" altLang="en-US" sz="6400" dirty="0">
                <a:latin typeface="Palatino Linotype" panose="02040502050505030304" pitchFamily="18" charset="0"/>
              </a:rPr>
              <a:t>    - Reinstatement request will be reviewed by the Graduate College and the student    </a:t>
            </a:r>
          </a:p>
          <a:p>
            <a:pPr marL="0" indent="0">
              <a:buNone/>
            </a:pPr>
            <a:r>
              <a:rPr lang="en-US" altLang="en-US" sz="6400" dirty="0">
                <a:latin typeface="Palatino Linotype" panose="02040502050505030304" pitchFamily="18" charset="0"/>
              </a:rPr>
              <a:t>     will be notified of their decision </a:t>
            </a:r>
          </a:p>
          <a:p>
            <a:pPr marL="0" indent="0">
              <a:buNone/>
            </a:pPr>
            <a:endParaRPr lang="en-US" altLang="en-US" sz="6400" dirty="0">
              <a:latin typeface="Palatino Linotype" panose="02040502050505030304" pitchFamily="18" charset="0"/>
            </a:endParaRPr>
          </a:p>
          <a:p>
            <a:r>
              <a:rPr lang="en-US" sz="6400" dirty="0">
                <a:latin typeface="Palatino Linotype" panose="02040502050505030304" pitchFamily="18" charset="0"/>
              </a:rPr>
              <a:t>Please review the Graduate Catalog for all academic policies, </a:t>
            </a:r>
            <a:r>
              <a:rPr lang="en-US" sz="6400" dirty="0">
                <a:latin typeface="Palatino Linotype" panose="02040502050505030304" pitchFamily="18" charset="0"/>
                <a:hlinkClick r:id="rId2"/>
              </a:rPr>
              <a:t>https://catalog.kennesaw.edu/index.php?catoid=67</a:t>
            </a:r>
            <a:r>
              <a:rPr lang="en-US" sz="6400" dirty="0">
                <a:latin typeface="Palatino Linotype" panose="02040502050505030304" pitchFamily="18" charset="0"/>
              </a:rPr>
              <a:t>    </a:t>
            </a:r>
            <a:endParaRPr lang="en-US" altLang="en-US" sz="6400" dirty="0">
              <a:latin typeface="Palatino Linotype" panose="0204050205050503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535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Palatino Linotype" panose="02040502050505030304" pitchFamily="18" charset="0"/>
              </a:rPr>
              <a:t>Academic Integrity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90497" y="937798"/>
            <a:ext cx="7886700" cy="3263504"/>
          </a:xfrm>
        </p:spPr>
        <p:txBody>
          <a:bodyPr>
            <a:normAutofit fontScale="25000" lnSpcReduction="20000"/>
          </a:bodyPr>
          <a:lstStyle/>
          <a:p>
            <a:r>
              <a:rPr lang="en-US" sz="7200" dirty="0">
                <a:latin typeface="Palatino Linotype" panose="02040502050505030304" pitchFamily="18" charset="0"/>
                <a:hlinkClick r:id="rId2"/>
              </a:rPr>
              <a:t>KSU Student Code of Conduct</a:t>
            </a:r>
            <a:endParaRPr lang="en-US" sz="7200" dirty="0">
              <a:latin typeface="Palatino Linotype" panose="02040502050505030304" pitchFamily="18" charset="0"/>
            </a:endParaRPr>
          </a:p>
          <a:p>
            <a:endParaRPr lang="en-US" sz="7200" dirty="0">
              <a:latin typeface="Palatino Linotype" panose="02040502050505030304" pitchFamily="18" charset="0"/>
            </a:endParaRPr>
          </a:p>
          <a:p>
            <a:r>
              <a:rPr lang="en-US" sz="7200" dirty="0">
                <a:latin typeface="Palatino Linotype" panose="02040502050505030304" pitchFamily="18" charset="0"/>
              </a:rPr>
              <a:t>Types of academic misconduct (page 18)</a:t>
            </a:r>
          </a:p>
          <a:p>
            <a:pPr lvl="1"/>
            <a:r>
              <a:rPr lang="en-US" sz="7200" dirty="0">
                <a:latin typeface="Palatino Linotype" panose="02040502050505030304" pitchFamily="18" charset="0"/>
              </a:rPr>
              <a:t>Cheating</a:t>
            </a:r>
          </a:p>
          <a:p>
            <a:pPr lvl="1"/>
            <a:r>
              <a:rPr lang="en-US" sz="7200" dirty="0">
                <a:latin typeface="Palatino Linotype" panose="02040502050505030304" pitchFamily="18" charset="0"/>
              </a:rPr>
              <a:t>Plagiarism</a:t>
            </a:r>
          </a:p>
          <a:p>
            <a:pPr lvl="1"/>
            <a:r>
              <a:rPr lang="en-US" sz="7200" dirty="0">
                <a:latin typeface="Palatino Linotype" panose="02040502050505030304" pitchFamily="18" charset="0"/>
              </a:rPr>
              <a:t>Self-plagiarism</a:t>
            </a:r>
          </a:p>
          <a:p>
            <a:pPr lvl="1"/>
            <a:r>
              <a:rPr lang="en-US" sz="7200" dirty="0">
                <a:latin typeface="Palatino Linotype" panose="02040502050505030304" pitchFamily="18" charset="0"/>
              </a:rPr>
              <a:t>Misrepresentation and/or Falsification</a:t>
            </a:r>
          </a:p>
          <a:p>
            <a:pPr lvl="1"/>
            <a:endParaRPr lang="en-US" sz="7200" dirty="0">
              <a:latin typeface="Palatino Linotype" panose="02040502050505030304" pitchFamily="18" charset="0"/>
            </a:endParaRPr>
          </a:p>
          <a:p>
            <a:r>
              <a:rPr lang="en-US" sz="7200" dirty="0">
                <a:latin typeface="Palatino Linotype" panose="02040502050505030304" pitchFamily="18" charset="0"/>
              </a:rPr>
              <a:t>Violation leads to extreme serious consequence</a:t>
            </a:r>
          </a:p>
          <a:p>
            <a:pPr lvl="1"/>
            <a:r>
              <a:rPr lang="en-US" sz="7200" dirty="0">
                <a:latin typeface="Palatino Linotype" panose="02040502050505030304" pitchFamily="18" charset="0"/>
              </a:rPr>
              <a:t>Grade penalty, suspension, expulsion, and revocation of degree</a:t>
            </a:r>
          </a:p>
          <a:p>
            <a:pPr marL="0" indent="0">
              <a:buNone/>
            </a:pPr>
            <a:endParaRPr lang="en-US" altLang="en-US" sz="7200" dirty="0">
              <a:latin typeface="Palatino Linotype" panose="02040502050505030304" pitchFamily="18" charset="0"/>
            </a:endParaRPr>
          </a:p>
          <a:p>
            <a:r>
              <a:rPr lang="en-US" sz="7200" dirty="0">
                <a:latin typeface="Palatino Linotype" panose="02040502050505030304" pitchFamily="18" charset="0"/>
              </a:rPr>
              <a:t>Please review the Graduate Catalog for all academic policies, </a:t>
            </a:r>
            <a:r>
              <a:rPr lang="en-US" sz="7200" dirty="0">
                <a:latin typeface="Palatino Linotype" panose="02040502050505030304" pitchFamily="18" charset="0"/>
                <a:hlinkClick r:id="rId3"/>
              </a:rPr>
              <a:t>https://catalog.kennesaw.edu/index.php?catoid=67</a:t>
            </a:r>
            <a:endParaRPr lang="en-US" altLang="en-US" sz="6400" dirty="0">
              <a:latin typeface="Palatino Linotype" panose="0204050205050503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525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301" y="402535"/>
            <a:ext cx="6831133" cy="624509"/>
          </a:xfrm>
        </p:spPr>
        <p:txBody>
          <a:bodyPr>
            <a:noAutofit/>
          </a:bodyPr>
          <a:lstStyle/>
          <a:p>
            <a:pPr algn="ctr"/>
            <a:r>
              <a:rPr lang="en-US" sz="4400" dirty="0">
                <a:latin typeface="Palatino Linotype" panose="02040502050505030304" pitchFamily="18" charset="0"/>
              </a:rPr>
              <a:t>Preparing for Registration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5310" y="1027044"/>
            <a:ext cx="8247747" cy="3804732"/>
          </a:xfrm>
        </p:spPr>
        <p:txBody>
          <a:bodyPr>
            <a:normAutofit/>
          </a:bodyPr>
          <a:lstStyle/>
          <a:p>
            <a:pPr marL="285750" indent="-285750"/>
            <a:r>
              <a:rPr lang="en-US" sz="2200" dirty="0">
                <a:latin typeface="Palatino Linotype" panose="02040502050505030304" pitchFamily="18" charset="0"/>
              </a:rPr>
              <a:t>New Student Graduate Online Orientation </a:t>
            </a:r>
            <a:r>
              <a:rPr lang="en-US" sz="3000" dirty="0">
                <a:latin typeface="Palatino Linotype" panose="02040502050505030304" pitchFamily="18" charset="0"/>
              </a:rPr>
              <a:t> </a:t>
            </a:r>
            <a:r>
              <a:rPr lang="en-US" dirty="0">
                <a:latin typeface="Palatino Linotype" panose="02040502050505030304" pitchFamily="18" charset="0"/>
                <a:hlinkClick r:id="rId2"/>
              </a:rPr>
              <a:t>https://gradorientation.kennesaw.edu/</a:t>
            </a:r>
            <a:endParaRPr lang="en-US" dirty="0">
              <a:latin typeface="Palatino Linotype" panose="02040502050505030304" pitchFamily="18" charset="0"/>
            </a:endParaRPr>
          </a:p>
          <a:p>
            <a:pPr marL="0" indent="0">
              <a:buNone/>
            </a:pPr>
            <a:endParaRPr lang="en-US" sz="2000" dirty="0">
              <a:latin typeface="Palatino Linotype" panose="02040502050505030304" pitchFamily="18" charset="0"/>
            </a:endParaRPr>
          </a:p>
          <a:p>
            <a:pPr marL="285750" indent="-285750"/>
            <a:r>
              <a:rPr lang="en-US" sz="2200" dirty="0">
                <a:latin typeface="Palatino Linotype" panose="02040502050505030304" pitchFamily="18" charset="0"/>
              </a:rPr>
              <a:t>FAQs </a:t>
            </a:r>
          </a:p>
          <a:p>
            <a:pPr marL="0" indent="0">
              <a:buNone/>
            </a:pPr>
            <a:r>
              <a:rPr lang="en-US" sz="3000" dirty="0">
                <a:latin typeface="Palatino Linotype" panose="02040502050505030304" pitchFamily="18" charset="0"/>
              </a:rPr>
              <a:t>   </a:t>
            </a:r>
            <a:r>
              <a:rPr lang="en-US" sz="1900" dirty="0">
                <a:latin typeface="Palatino Linotype" panose="02040502050505030304" pitchFamily="18" charset="0"/>
              </a:rPr>
              <a:t>- KSU email, parking requirements, KSU ID Card</a:t>
            </a:r>
          </a:p>
          <a:p>
            <a:pPr marL="0" indent="0">
              <a:buNone/>
            </a:pPr>
            <a:endParaRPr lang="en-US" sz="2000" dirty="0">
              <a:latin typeface="Palatino Linotype" panose="02040502050505030304" pitchFamily="18" charset="0"/>
            </a:endParaRPr>
          </a:p>
          <a:p>
            <a:r>
              <a:rPr lang="en-US" sz="2000" dirty="0">
                <a:latin typeface="Palatino Linotype" panose="02040502050505030304" pitchFamily="18" charset="0"/>
              </a:rPr>
              <a:t>  </a:t>
            </a:r>
            <a:r>
              <a:rPr lang="en-US" sz="2200" dirty="0">
                <a:latin typeface="Palatino Linotype" panose="02040502050505030304" pitchFamily="18" charset="0"/>
              </a:rPr>
              <a:t>Resources</a:t>
            </a:r>
          </a:p>
          <a:p>
            <a:pPr marL="0" indent="0">
              <a:buNone/>
            </a:pPr>
            <a:r>
              <a:rPr lang="en-US" sz="2000" dirty="0">
                <a:latin typeface="Palatino Linotype" panose="02040502050505030304" pitchFamily="18" charset="0"/>
              </a:rPr>
              <a:t>     - </a:t>
            </a:r>
            <a:r>
              <a:rPr lang="en-US" sz="2000" dirty="0">
                <a:latin typeface="Palatino Linotype" panose="02040502050505030304" pitchFamily="18" charset="0"/>
                <a:hlinkClick r:id="rId3"/>
              </a:rPr>
              <a:t>Academic Calendar</a:t>
            </a:r>
            <a:r>
              <a:rPr lang="en-US" sz="2000" dirty="0">
                <a:latin typeface="Palatino Linotype" panose="02040502050505030304" pitchFamily="18" charset="0"/>
              </a:rPr>
              <a:t>, </a:t>
            </a:r>
            <a:r>
              <a:rPr lang="en-US" sz="2000" dirty="0">
                <a:latin typeface="Palatino Linotype" panose="02040502050505030304" pitchFamily="18" charset="0"/>
                <a:hlinkClick r:id="rId4"/>
              </a:rPr>
              <a:t>Registration assistance</a:t>
            </a:r>
            <a:r>
              <a:rPr lang="en-US" sz="2000" dirty="0">
                <a:latin typeface="Palatino Linotype" panose="02040502050505030304" pitchFamily="18" charset="0"/>
              </a:rPr>
              <a:t>,  </a:t>
            </a:r>
          </a:p>
          <a:p>
            <a:pPr marL="0" indent="0">
              <a:buNone/>
            </a:pPr>
            <a:r>
              <a:rPr lang="en-US" sz="2000" dirty="0">
                <a:latin typeface="Palatino Linotype" panose="02040502050505030304" pitchFamily="18" charset="0"/>
              </a:rPr>
              <a:t>       </a:t>
            </a:r>
            <a:r>
              <a:rPr lang="en-US" sz="2000" dirty="0">
                <a:latin typeface="Palatino Linotype" panose="02040502050505030304" pitchFamily="18" charset="0"/>
                <a:hlinkClick r:id="rId5"/>
              </a:rPr>
              <a:t>Graduate Catalog</a:t>
            </a:r>
            <a:endParaRPr lang="en-US" sz="2000" dirty="0">
              <a:latin typeface="Palatino Linotype" panose="02040502050505030304" pitchFamily="18" charset="0"/>
            </a:endParaRPr>
          </a:p>
          <a:p>
            <a:pPr marL="0" indent="0">
              <a:buNone/>
            </a:pPr>
            <a:endParaRPr lang="en-US" sz="3000" dirty="0">
              <a:latin typeface="Palatino Linotype" panose="02040502050505030304" pitchFamily="18" charset="0"/>
            </a:endParaRPr>
          </a:p>
          <a:p>
            <a:pPr marL="285750" indent="-285750"/>
            <a:endParaRPr lang="en-US" sz="3000" dirty="0">
              <a:latin typeface="Palatino Linotype" panose="02040502050505030304" pitchFamily="18" charset="0"/>
            </a:endParaRPr>
          </a:p>
          <a:p>
            <a:pPr marL="285750" indent="-285750"/>
            <a:endParaRPr lang="en-US" sz="3000" dirty="0">
              <a:latin typeface="Palatino Linotype" panose="02040502050505030304" pitchFamily="18" charset="0"/>
            </a:endParaRPr>
          </a:p>
          <a:p>
            <a:pPr marL="0" indent="0">
              <a:buNone/>
            </a:pPr>
            <a:endParaRPr lang="en-US" sz="3000" dirty="0">
              <a:latin typeface="Palatino Linotype" panose="02040502050505030304" pitchFamily="18" charset="0"/>
            </a:endParaRPr>
          </a:p>
          <a:p>
            <a:pPr marL="0" indent="0">
              <a:buNone/>
            </a:pPr>
            <a:endParaRPr lang="en-US" sz="3000" dirty="0">
              <a:latin typeface="Palatino Linotype" panose="02040502050505030304" pitchFamily="18" charset="0"/>
            </a:endParaRPr>
          </a:p>
          <a:p>
            <a:pPr marL="0" indent="0">
              <a:buNone/>
            </a:pPr>
            <a:endParaRPr lang="en-US" sz="3200" dirty="0">
              <a:latin typeface="Palatino Linotype" panose="02040502050505030304" pitchFamily="18" charset="0"/>
            </a:endParaRPr>
          </a:p>
          <a:p>
            <a:pPr marL="0" indent="0">
              <a:buNone/>
            </a:pPr>
            <a:endParaRPr lang="en-US" sz="3200" dirty="0">
              <a:latin typeface="Palatino Linotype" panose="0204050205050503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533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301" y="402535"/>
            <a:ext cx="6831133" cy="624509"/>
          </a:xfrm>
        </p:spPr>
        <p:txBody>
          <a:bodyPr>
            <a:noAutofit/>
          </a:bodyPr>
          <a:lstStyle/>
          <a:p>
            <a:pPr algn="ctr"/>
            <a:r>
              <a:rPr lang="en-US" sz="4400" dirty="0">
                <a:latin typeface="Palatino Linotype" panose="02040502050505030304" pitchFamily="18" charset="0"/>
              </a:rPr>
              <a:t>Registration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61498" y="1100645"/>
            <a:ext cx="7828846" cy="3818226"/>
          </a:xfrm>
        </p:spPr>
        <p:txBody>
          <a:bodyPr>
            <a:normAutofit fontScale="25000" lnSpcReduction="20000"/>
          </a:bodyPr>
          <a:lstStyle/>
          <a:p>
            <a:pPr marL="285750" indent="-285750"/>
            <a:r>
              <a:rPr lang="en-US" sz="4800" dirty="0">
                <a:latin typeface="Palatino Linotype" panose="02040502050505030304" pitchFamily="18" charset="0"/>
              </a:rPr>
              <a:t>Must Activate Net ID - </a:t>
            </a:r>
            <a:r>
              <a:rPr lang="en-US" sz="4800" dirty="0">
                <a:latin typeface="Palatino Linotype" panose="02040502050505030304" pitchFamily="18" charset="0"/>
                <a:hlinkClick r:id="rId2"/>
              </a:rPr>
              <a:t>https://uits.kennesaw.edu/support/newstudents.php</a:t>
            </a:r>
            <a:r>
              <a:rPr lang="en-US" sz="4800" dirty="0">
                <a:latin typeface="Palatino Linotype" panose="02040502050505030304" pitchFamily="18" charset="0"/>
              </a:rPr>
              <a:t> </a:t>
            </a:r>
          </a:p>
          <a:p>
            <a:pPr marL="0" indent="0">
              <a:buNone/>
            </a:pPr>
            <a:endParaRPr lang="en-US" sz="4800" dirty="0">
              <a:latin typeface="Palatino Linotype" panose="02040502050505030304" pitchFamily="18" charset="0"/>
            </a:endParaRPr>
          </a:p>
          <a:p>
            <a:pPr marL="285750" indent="-285750"/>
            <a:r>
              <a:rPr lang="en-US" sz="4800" dirty="0">
                <a:latin typeface="Palatino Linotype" panose="02040502050505030304" pitchFamily="18" charset="0"/>
              </a:rPr>
              <a:t>Time Ticket in Owl Express</a:t>
            </a:r>
          </a:p>
          <a:p>
            <a:pPr marL="285750" indent="-285750"/>
            <a:endParaRPr lang="en-US" sz="4800" dirty="0">
              <a:latin typeface="Palatino Linotype" panose="02040502050505030304" pitchFamily="18" charset="0"/>
            </a:endParaRPr>
          </a:p>
          <a:p>
            <a:pPr marL="285750" indent="-285750"/>
            <a:r>
              <a:rPr lang="en-US" sz="4800" dirty="0" smtClean="0">
                <a:latin typeface="Palatino Linotype" panose="02040502050505030304" pitchFamily="18" charset="0"/>
              </a:rPr>
              <a:t>Fall </a:t>
            </a:r>
            <a:r>
              <a:rPr lang="en-US" sz="4800" dirty="0">
                <a:latin typeface="Palatino Linotype" panose="02040502050505030304" pitchFamily="18" charset="0"/>
              </a:rPr>
              <a:t>Registration Open </a:t>
            </a:r>
            <a:r>
              <a:rPr lang="en-US" sz="4800" dirty="0" smtClean="0">
                <a:latin typeface="Palatino Linotype" panose="02040502050505030304" pitchFamily="18" charset="0"/>
              </a:rPr>
              <a:t>Now and Closes August 9th: check Owl Express for your day and time</a:t>
            </a:r>
            <a:endParaRPr lang="en-US" sz="4800" dirty="0">
              <a:latin typeface="Palatino Linotype" panose="02040502050505030304" pitchFamily="18" charset="0"/>
            </a:endParaRPr>
          </a:p>
          <a:p>
            <a:pPr marL="0" indent="0">
              <a:buNone/>
            </a:pPr>
            <a:r>
              <a:rPr lang="en-US" sz="4800" dirty="0">
                <a:latin typeface="Palatino Linotype" panose="02040502050505030304" pitchFamily="18" charset="0"/>
              </a:rPr>
              <a:t>       - </a:t>
            </a:r>
            <a:r>
              <a:rPr lang="en-US" sz="4800" dirty="0" smtClean="0">
                <a:latin typeface="Palatino Linotype" panose="02040502050505030304" pitchFamily="18" charset="0"/>
              </a:rPr>
              <a:t>Drop/Add: August 14th - Aug</a:t>
            </a:r>
            <a:r>
              <a:rPr lang="en-US" sz="4800" dirty="0">
                <a:latin typeface="Palatino Linotype" panose="02040502050505030304" pitchFamily="18" charset="0"/>
              </a:rPr>
              <a:t>. </a:t>
            </a:r>
            <a:r>
              <a:rPr lang="en-US" sz="4800" dirty="0" smtClean="0">
                <a:latin typeface="Palatino Linotype" panose="02040502050505030304" pitchFamily="18" charset="0"/>
              </a:rPr>
              <a:t>18th, ends@ </a:t>
            </a:r>
            <a:r>
              <a:rPr lang="en-US" sz="4800" dirty="0">
                <a:latin typeface="Palatino Linotype" panose="02040502050505030304" pitchFamily="18" charset="0"/>
              </a:rPr>
              <a:t>11:45pm EST</a:t>
            </a:r>
          </a:p>
          <a:p>
            <a:pPr marL="0" indent="0">
              <a:buNone/>
            </a:pPr>
            <a:r>
              <a:rPr lang="en-US" sz="4800" dirty="0">
                <a:latin typeface="Palatino Linotype" panose="02040502050505030304" pitchFamily="18" charset="0"/>
              </a:rPr>
              <a:t>       - </a:t>
            </a:r>
            <a:r>
              <a:rPr lang="en-US" sz="4800" dirty="0">
                <a:latin typeface="Palatino Linotype" panose="02040502050505030304" pitchFamily="18" charset="0"/>
                <a:hlinkClick r:id="rId3"/>
              </a:rPr>
              <a:t>Registration video tutorial</a:t>
            </a:r>
            <a:endParaRPr lang="en-US" sz="4800" dirty="0">
              <a:latin typeface="Palatino Linotype" panose="02040502050505030304" pitchFamily="18" charset="0"/>
            </a:endParaRPr>
          </a:p>
          <a:p>
            <a:pPr marL="0" indent="0">
              <a:buNone/>
            </a:pPr>
            <a:endParaRPr lang="en-US" sz="4800" dirty="0">
              <a:latin typeface="Palatino Linotype" panose="02040502050505030304" pitchFamily="18" charset="0"/>
            </a:endParaRPr>
          </a:p>
          <a:p>
            <a:r>
              <a:rPr lang="en-US" sz="4800" dirty="0">
                <a:latin typeface="Palatino Linotype" panose="02040502050505030304" pitchFamily="18" charset="0"/>
              </a:rPr>
              <a:t>When drop/add closes, you can no longer make changes to your class schedule</a:t>
            </a:r>
          </a:p>
          <a:p>
            <a:pPr marL="0" indent="0">
              <a:buNone/>
            </a:pPr>
            <a:endParaRPr lang="en-US" sz="4800" dirty="0">
              <a:latin typeface="Palatino Linotype" panose="02040502050505030304" pitchFamily="18" charset="0"/>
            </a:endParaRPr>
          </a:p>
          <a:p>
            <a:r>
              <a:rPr lang="en-US" sz="4800" dirty="0">
                <a:latin typeface="Palatino Linotype" panose="02040502050505030304" pitchFamily="18" charset="0"/>
              </a:rPr>
              <a:t>Final Payment, if not receiving financial aid, is </a:t>
            </a:r>
          </a:p>
          <a:p>
            <a:pPr marL="0" indent="0">
              <a:buNone/>
            </a:pPr>
            <a:r>
              <a:rPr lang="en-US" sz="4800" dirty="0">
                <a:latin typeface="Palatino Linotype" panose="02040502050505030304" pitchFamily="18" charset="0"/>
              </a:rPr>
              <a:t>    - Fall term: August 18, 2023 </a:t>
            </a:r>
            <a:endParaRPr lang="en-US" sz="4800" dirty="0">
              <a:latin typeface="Palatino Linotype" panose="02040502050505030304" pitchFamily="18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Palatino Linotype" panose="02040502050505030304" pitchFamily="18" charset="0"/>
              </a:rPr>
              <a:t>    - In person payments are due by 4pm </a:t>
            </a:r>
            <a:r>
              <a:rPr lang="en-US" sz="4800" dirty="0">
                <a:latin typeface="Palatino Linotype" panose="02040502050505030304" pitchFamily="18" charset="0"/>
              </a:rPr>
              <a:t>EST</a:t>
            </a:r>
          </a:p>
          <a:p>
            <a:pPr marL="0" indent="0">
              <a:buNone/>
            </a:pPr>
            <a:endParaRPr lang="en-US" sz="4800" dirty="0">
              <a:latin typeface="Palatino Linotype" panose="02040502050505030304" pitchFamily="18" charset="0"/>
            </a:endParaRPr>
          </a:p>
          <a:p>
            <a:r>
              <a:rPr lang="en-US" sz="4800" dirty="0">
                <a:latin typeface="Palatino Linotype" panose="02040502050505030304" pitchFamily="18" charset="0"/>
              </a:rPr>
              <a:t>First Day of Fall Classes – August 14, 2023</a:t>
            </a:r>
          </a:p>
          <a:p>
            <a:pPr marL="0" indent="0">
              <a:buNone/>
            </a:pPr>
            <a:r>
              <a:rPr lang="en-US" sz="4800" i="1" dirty="0">
                <a:latin typeface="Palatino Linotype" panose="02040502050505030304" pitchFamily="18" charset="0"/>
              </a:rPr>
              <a:t>                                                                           </a:t>
            </a:r>
          </a:p>
          <a:p>
            <a:pPr marL="0" indent="0">
              <a:buNone/>
            </a:pPr>
            <a:endParaRPr lang="en-US" sz="3200" dirty="0">
              <a:latin typeface="Palatino Linotype" panose="02040502050505030304" pitchFamily="18" charset="0"/>
            </a:endParaRPr>
          </a:p>
          <a:p>
            <a:pPr marL="0" indent="0">
              <a:buNone/>
            </a:pPr>
            <a:endParaRPr lang="en-US" sz="3200" dirty="0">
              <a:latin typeface="Palatino Linotype" panose="0204050205050503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080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6433" y="402535"/>
            <a:ext cx="6831133" cy="624509"/>
          </a:xfrm>
        </p:spPr>
        <p:txBody>
          <a:bodyPr>
            <a:noAutofit/>
          </a:bodyPr>
          <a:lstStyle/>
          <a:p>
            <a:pPr algn="ctr"/>
            <a:r>
              <a:rPr lang="en-US" sz="4400" dirty="0">
                <a:latin typeface="Palatino Linotype" panose="02040502050505030304" pitchFamily="18" charset="0"/>
              </a:rPr>
              <a:t>Registration Holds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9102" y="1027043"/>
            <a:ext cx="8367561" cy="364226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latin typeface="Palatino Linotype" panose="02040502050505030304" pitchFamily="18" charset="0"/>
              </a:rPr>
              <a:t>Must be removed before you can register for classes.</a:t>
            </a:r>
          </a:p>
          <a:p>
            <a:pPr marL="0" indent="0">
              <a:buNone/>
            </a:pPr>
            <a:endParaRPr lang="en-US" sz="2000" dirty="0">
              <a:latin typeface="Palatino Linotype" panose="02040502050505030304" pitchFamily="18" charset="0"/>
            </a:endParaRPr>
          </a:p>
          <a:p>
            <a:r>
              <a:rPr lang="en-US" sz="2000" dirty="0">
                <a:latin typeface="Palatino Linotype" panose="02040502050505030304" pitchFamily="18" charset="0"/>
              </a:rPr>
              <a:t>Lawful Presence Verification</a:t>
            </a:r>
          </a:p>
          <a:p>
            <a:pPr marL="0" indent="0">
              <a:buNone/>
            </a:pPr>
            <a:r>
              <a:rPr lang="en-US" sz="2000" dirty="0">
                <a:latin typeface="Palatino Linotype" panose="02040502050505030304" pitchFamily="18" charset="0"/>
              </a:rPr>
              <a:t>  - Graduate Admission (</a:t>
            </a:r>
            <a:r>
              <a:rPr lang="en-US" sz="2000" dirty="0">
                <a:latin typeface="Palatino Linotype" panose="02040502050505030304" pitchFamily="18" charset="0"/>
                <a:hlinkClick r:id="rId2"/>
              </a:rPr>
              <a:t>ksugrad@kennesaw.edu</a:t>
            </a:r>
            <a:r>
              <a:rPr lang="en-US" sz="2000" dirty="0">
                <a:latin typeface="Palatino Linotype" panose="02040502050505030304" pitchFamily="18" charset="0"/>
              </a:rPr>
              <a:t>)</a:t>
            </a:r>
          </a:p>
          <a:p>
            <a:pPr marL="0" indent="0">
              <a:buNone/>
            </a:pPr>
            <a:endParaRPr lang="en-US" sz="2000" dirty="0">
              <a:latin typeface="Palatino Linotype" panose="02040502050505030304" pitchFamily="18" charset="0"/>
            </a:endParaRPr>
          </a:p>
          <a:p>
            <a:r>
              <a:rPr lang="en-US" sz="2000" dirty="0">
                <a:latin typeface="Palatino Linotype" panose="02040502050505030304" pitchFamily="18" charset="0"/>
              </a:rPr>
              <a:t>Missing Admission Docs </a:t>
            </a:r>
            <a:r>
              <a:rPr lang="en-US" sz="2000" dirty="0" smtClean="0">
                <a:latin typeface="Palatino Linotype" panose="02040502050505030304" pitchFamily="18" charset="0"/>
              </a:rPr>
              <a:t>Transcripts (Graduate Studies)</a:t>
            </a:r>
            <a:endParaRPr lang="en-US" sz="2000" dirty="0">
              <a:latin typeface="Palatino Linotype" panose="0204050205050503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latin typeface="Palatino Linotype" panose="02040502050505030304" pitchFamily="18" charset="0"/>
              </a:rPr>
              <a:t>  - Graduate Admission (</a:t>
            </a:r>
            <a:r>
              <a:rPr lang="en-US" sz="2000" dirty="0">
                <a:latin typeface="Palatino Linotype" panose="02040502050505030304" pitchFamily="18" charset="0"/>
                <a:hlinkClick r:id="rId2"/>
              </a:rPr>
              <a:t>ksugrad@kennesaw.edu</a:t>
            </a:r>
            <a:r>
              <a:rPr lang="en-US" sz="2000" dirty="0">
                <a:latin typeface="Palatino Linotype" panose="02040502050505030304" pitchFamily="18" charset="0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>
              <a:latin typeface="Palatino Linotype" panose="02040502050505030304" pitchFamily="18" charset="0"/>
            </a:endParaRPr>
          </a:p>
          <a:p>
            <a:r>
              <a:rPr lang="en-US" sz="2000" dirty="0">
                <a:latin typeface="Palatino Linotype" panose="02040502050505030304" pitchFamily="18" charset="0"/>
              </a:rPr>
              <a:t>Proof of Immunization required, COVID vaccine not required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latin typeface="Palatino Linotype" panose="02040502050505030304" pitchFamily="18" charset="0"/>
              </a:rPr>
              <a:t>   - immunization.kennesaw.edu </a:t>
            </a:r>
          </a:p>
          <a:p>
            <a:pPr marL="0" indent="0">
              <a:buNone/>
            </a:pPr>
            <a:endParaRPr lang="en-US" sz="3200" dirty="0">
              <a:latin typeface="Palatino Linotype" panose="02040502050505030304" pitchFamily="18" charset="0"/>
            </a:endParaRPr>
          </a:p>
          <a:p>
            <a:pPr marL="0" indent="0">
              <a:buNone/>
            </a:pPr>
            <a:endParaRPr lang="en-US" sz="3200" dirty="0">
              <a:latin typeface="Palatino Linotype" panose="0204050205050503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304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>
                <a:latin typeface="Palatino Linotype" panose="02040502050505030304" pitchFamily="18" charset="0"/>
              </a:rPr>
              <a:t>Financial Aid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1416" y="1667393"/>
            <a:ext cx="7886700" cy="3263504"/>
          </a:xfrm>
        </p:spPr>
        <p:txBody>
          <a:bodyPr/>
          <a:lstStyle/>
          <a:p>
            <a:r>
              <a:rPr lang="en-US" dirty="0">
                <a:latin typeface="Palatino Linotype" panose="02040502050505030304" pitchFamily="18" charset="0"/>
              </a:rPr>
              <a:t>If you have questions about your Federal Financial Aid, please contact the Office of Financial Aid.  That is the only office that can answer financial aid questions.</a:t>
            </a:r>
          </a:p>
          <a:p>
            <a:endParaRPr lang="en-US" dirty="0">
              <a:latin typeface="Palatino Linotype" panose="02040502050505030304" pitchFamily="18" charset="0"/>
            </a:endParaRPr>
          </a:p>
          <a:p>
            <a:r>
              <a:rPr lang="en-US" dirty="0">
                <a:latin typeface="Palatino Linotype" panose="02040502050505030304" pitchFamily="18" charset="0"/>
              </a:rPr>
              <a:t>Email: </a:t>
            </a:r>
            <a:r>
              <a:rPr lang="en-US" dirty="0">
                <a:latin typeface="Palatino Linotype" panose="02040502050505030304" pitchFamily="18" charset="0"/>
                <a:hlinkClick r:id="rId2"/>
              </a:rPr>
              <a:t>finaid@kennesaw.edu</a:t>
            </a:r>
            <a:endParaRPr lang="en-US" dirty="0">
              <a:latin typeface="Palatino Linotype" panose="02040502050505030304" pitchFamily="18" charset="0"/>
            </a:endParaRPr>
          </a:p>
          <a:p>
            <a:pPr marL="0" indent="0">
              <a:buNone/>
            </a:pPr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575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0" y="342900"/>
            <a:ext cx="7772037" cy="717274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atin typeface="Palatino Linotype" panose="02040502050505030304" pitchFamily="18" charset="0"/>
              </a:rPr>
              <a:t>Program of Study</a:t>
            </a:r>
            <a:endParaRPr lang="en-US" sz="44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6500" y="1060174"/>
            <a:ext cx="8158715" cy="3580206"/>
          </a:xfrm>
        </p:spPr>
        <p:txBody>
          <a:bodyPr>
            <a:normAutofit fontScale="25000" lnSpcReduction="20000"/>
          </a:bodyPr>
          <a:lstStyle/>
          <a:p>
            <a:pPr marL="342900">
              <a:buFont typeface="Arial" panose="020B0604020202020204" pitchFamily="34" charset="0"/>
              <a:buChar char="•"/>
            </a:pPr>
            <a:r>
              <a:rPr lang="en-US" sz="6400" dirty="0">
                <a:latin typeface="Palatino Linotype" panose="02040502050505030304" pitchFamily="18" charset="0"/>
              </a:rPr>
              <a:t>  Course Program of Study </a:t>
            </a:r>
          </a:p>
          <a:p>
            <a:pPr marL="342900"/>
            <a:r>
              <a:rPr lang="en-US" sz="6400" dirty="0">
                <a:latin typeface="Palatino Linotype" panose="02040502050505030304" pitchFamily="18" charset="0"/>
              </a:rPr>
              <a:t>     - Is a list of required and elective courses for your program </a:t>
            </a:r>
          </a:p>
          <a:p>
            <a:pPr marL="342900"/>
            <a:r>
              <a:rPr lang="en-US" sz="6400" dirty="0">
                <a:latin typeface="Palatino Linotype" panose="02040502050505030304" pitchFamily="18" charset="0"/>
              </a:rPr>
              <a:t>     - Classes listed can change per semester, as course offering may change</a:t>
            </a:r>
          </a:p>
          <a:p>
            <a:pPr marL="342900"/>
            <a:r>
              <a:rPr lang="en-US" sz="6400" dirty="0">
                <a:latin typeface="Palatino Linotype" panose="02040502050505030304" pitchFamily="18" charset="0"/>
              </a:rPr>
              <a:t>     - Thesis or Capstone – when should you decide?  </a:t>
            </a:r>
          </a:p>
          <a:p>
            <a:pPr marL="342900"/>
            <a:r>
              <a:rPr lang="en-US" sz="6400" dirty="0">
                <a:latin typeface="Palatino Linotype" panose="02040502050505030304" pitchFamily="18" charset="0"/>
              </a:rPr>
              <a:t>     - Stay on track for degree completion</a:t>
            </a:r>
          </a:p>
          <a:p>
            <a:pPr marL="342900"/>
            <a:r>
              <a:rPr lang="en-US" sz="4200" dirty="0">
                <a:latin typeface="Palatino Linotype" panose="02040502050505030304" pitchFamily="18" charset="0"/>
              </a:rPr>
              <a:t>  </a:t>
            </a:r>
            <a:r>
              <a:rPr lang="en-US" sz="2700" dirty="0">
                <a:latin typeface="Palatino Linotype" panose="02040502050505030304" pitchFamily="18" charset="0"/>
              </a:rPr>
              <a:t> </a:t>
            </a:r>
            <a:endParaRPr lang="en-US" sz="4300" dirty="0">
              <a:latin typeface="Palatino Linotype" panose="02040502050505030304" pitchFamily="18" charset="0"/>
            </a:endParaRPr>
          </a:p>
          <a:p>
            <a:pPr marL="342900">
              <a:buFont typeface="Arial" panose="020B0604020202020204" pitchFamily="34" charset="0"/>
              <a:buChar char="•"/>
            </a:pPr>
            <a:r>
              <a:rPr lang="en-US" sz="6400" dirty="0">
                <a:latin typeface="Palatino Linotype" panose="02040502050505030304" pitchFamily="18" charset="0"/>
              </a:rPr>
              <a:t> Conditionally and Provisionally accepted </a:t>
            </a:r>
          </a:p>
          <a:p>
            <a:pPr marL="342900">
              <a:buFont typeface="Arial" panose="020B0604020202020204" pitchFamily="34" charset="0"/>
              <a:buChar char="•"/>
            </a:pPr>
            <a:endParaRPr lang="en-US" sz="6400" dirty="0">
              <a:latin typeface="Palatino Linotype" panose="02040502050505030304" pitchFamily="18" charset="0"/>
            </a:endParaRPr>
          </a:p>
          <a:p>
            <a:pPr marL="342900">
              <a:buFont typeface="Arial" panose="020B0604020202020204" pitchFamily="34" charset="0"/>
              <a:buChar char="•"/>
            </a:pPr>
            <a:r>
              <a:rPr lang="en-US" sz="6400" dirty="0">
                <a:latin typeface="Palatino Linotype" panose="02040502050505030304" pitchFamily="18" charset="0"/>
              </a:rPr>
              <a:t>Course Program of Study and Financial Aid</a:t>
            </a:r>
          </a:p>
          <a:p>
            <a:pPr marL="342900"/>
            <a:r>
              <a:rPr lang="en-US" sz="6400" dirty="0">
                <a:latin typeface="Palatino Linotype" panose="02040502050505030304" pitchFamily="18" charset="0"/>
              </a:rPr>
              <a:t>       - Course Program of Study (CPoS) is the process that is run to identify courses  within a student’s program of study. Courses that do not apply towards a student’s program of study will be ineligible for federal financial aid.   </a:t>
            </a:r>
          </a:p>
          <a:p>
            <a:pPr marL="342900"/>
            <a:endParaRPr lang="en-US" sz="4300" dirty="0">
              <a:latin typeface="Palatino Linotype" panose="02040502050505030304" pitchFamily="18" charset="0"/>
            </a:endParaRPr>
          </a:p>
          <a:p>
            <a:pPr marL="3429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300" dirty="0">
                <a:latin typeface="Palatino Linotype" panose="02040502050505030304" pitchFamily="18" charset="0"/>
              </a:rPr>
              <a:t> </a:t>
            </a:r>
            <a:r>
              <a:rPr lang="en-US" sz="6400" dirty="0">
                <a:latin typeface="Palatino Linotype" panose="02040502050505030304" pitchFamily="18" charset="0"/>
              </a:rPr>
              <a:t>CPOS - </a:t>
            </a:r>
            <a:r>
              <a:rPr lang="en-US" sz="6400" dirty="0">
                <a:latin typeface="Palatino Linotype" panose="02040502050505030304" pitchFamily="18" charset="0"/>
                <a:hlinkClick r:id="rId2"/>
              </a:rPr>
              <a:t>https://registrar.kennesaw.edu/cpos/index.php</a:t>
            </a:r>
            <a:endParaRPr lang="en-US" sz="6400" dirty="0">
              <a:latin typeface="Palatino Linotype" panose="02040502050505030304" pitchFamily="18" charset="0"/>
            </a:endParaRPr>
          </a:p>
          <a:p>
            <a:pPr marL="3429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2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7181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725214"/>
            <a:ext cx="7886700" cy="64400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Palatino Linotype" panose="02040502050505030304" pitchFamily="18" charset="0"/>
              </a:rPr>
              <a:t/>
            </a:r>
            <a:br>
              <a:rPr lang="en-US" dirty="0">
                <a:latin typeface="Palatino Linotype" panose="02040502050505030304" pitchFamily="18" charset="0"/>
              </a:rPr>
            </a:br>
            <a:r>
              <a:rPr lang="en-US" dirty="0">
                <a:latin typeface="Palatino Linotype" panose="02040502050505030304" pitchFamily="18" charset="0"/>
              </a:rPr>
              <a:t>Financial Assistance Programs</a:t>
            </a:r>
            <a:br>
              <a:rPr lang="en-US" dirty="0">
                <a:latin typeface="Palatino Linotype" panose="02040502050505030304" pitchFamily="18" charset="0"/>
              </a:rPr>
            </a:br>
            <a:r>
              <a:rPr lang="en-US" sz="3100" dirty="0">
                <a:latin typeface="Palatino Linotype" panose="02040502050505030304" pitchFamily="18" charset="0"/>
              </a:rPr>
              <a:t>GRA/GTAs</a:t>
            </a:r>
            <a:r>
              <a:rPr lang="en-US" dirty="0">
                <a:latin typeface="Palatino Linotype" panose="02040502050505030304" pitchFamily="18" charset="0"/>
              </a:rPr>
              <a:t/>
            </a:r>
            <a:br>
              <a:rPr lang="en-US" dirty="0">
                <a:latin typeface="Palatino Linotype" panose="02040502050505030304" pitchFamily="18" charset="0"/>
              </a:rPr>
            </a:br>
            <a:r>
              <a:rPr lang="en-US" sz="2200" dirty="0">
                <a:latin typeface="Palatino Linotype" panose="02040502050505030304" pitchFamily="18" charset="0"/>
                <a:hlinkClick r:id="rId2"/>
              </a:rPr>
              <a:t>https://ccse.kennesaw.edu/student-resources/fa_apps.php</a:t>
            </a:r>
            <a:r>
              <a:rPr lang="en-US" sz="2200" dirty="0">
                <a:latin typeface="Palatino Linotype" panose="02040502050505030304" pitchFamily="18" charset="0"/>
              </a:rPr>
              <a:t/>
            </a:r>
            <a:br>
              <a:rPr lang="en-US" sz="2200" dirty="0">
                <a:latin typeface="Palatino Linotype" panose="02040502050505030304" pitchFamily="18" charset="0"/>
              </a:rPr>
            </a:br>
            <a:r>
              <a:rPr lang="en-US" sz="2200" dirty="0">
                <a:latin typeface="Palatino Linotype" panose="02040502050505030304" pitchFamily="18" charset="0"/>
              </a:rPr>
              <a:t/>
            </a:r>
            <a:br>
              <a:rPr lang="en-US" sz="2200" dirty="0">
                <a:latin typeface="Palatino Linotype" panose="02040502050505030304" pitchFamily="18" charset="0"/>
              </a:rPr>
            </a:br>
            <a:endParaRPr lang="en-US" sz="2200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79996"/>
            <a:ext cx="7886700" cy="3263504"/>
          </a:xfrm>
        </p:spPr>
        <p:txBody>
          <a:bodyPr/>
          <a:lstStyle/>
          <a:p>
            <a:r>
              <a:rPr lang="en-US" dirty="0">
                <a:latin typeface="Palatino Linotype" panose="02040502050505030304" pitchFamily="18" charset="0"/>
              </a:rPr>
              <a:t>Do Not send unsolicited emails </a:t>
            </a:r>
          </a:p>
          <a:p>
            <a:r>
              <a:rPr lang="en-US" dirty="0">
                <a:latin typeface="Palatino Linotype" panose="02040502050505030304" pitchFamily="18" charset="0"/>
              </a:rPr>
              <a:t>Sources of GRA/GTA</a:t>
            </a:r>
          </a:p>
          <a:p>
            <a:r>
              <a:rPr lang="en-US" dirty="0">
                <a:latin typeface="Palatino Linotype" panose="02040502050505030304" pitchFamily="18" charset="0"/>
              </a:rPr>
              <a:t>When to apply</a:t>
            </a:r>
          </a:p>
          <a:p>
            <a:r>
              <a:rPr lang="en-US" dirty="0">
                <a:latin typeface="Palatino Linotype" panose="02040502050505030304" pitchFamily="18" charset="0"/>
              </a:rPr>
              <a:t>Work with program coordinators &amp; Melinda</a:t>
            </a:r>
          </a:p>
          <a:p>
            <a:r>
              <a:rPr lang="en-US" dirty="0">
                <a:latin typeface="Palatino Linotype" panose="02040502050505030304" pitchFamily="18" charset="0"/>
              </a:rPr>
              <a:t>Talk to faculty after class</a:t>
            </a:r>
          </a:p>
          <a:p>
            <a:r>
              <a:rPr lang="en-US" dirty="0">
                <a:latin typeface="Palatino Linotype" panose="02040502050505030304" pitchFamily="18" charset="0"/>
              </a:rPr>
              <a:t>Work with faculty as volunteer research assistant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893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77730"/>
            <a:ext cx="7886700" cy="64400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latin typeface="Palatino Linotype" panose="02040502050505030304" pitchFamily="18" charset="0"/>
              </a:rPr>
              <a:t/>
            </a:r>
            <a:br>
              <a:rPr lang="en-US" sz="3600" dirty="0">
                <a:latin typeface="Palatino Linotype" panose="02040502050505030304" pitchFamily="18" charset="0"/>
              </a:rPr>
            </a:br>
            <a:r>
              <a:rPr lang="en-US" sz="3600" dirty="0">
                <a:latin typeface="Palatino Linotype" panose="02040502050505030304" pitchFamily="18" charset="0"/>
              </a:rPr>
              <a:t>CCSE Out-of-State Tuition Waiver (OSTW)</a:t>
            </a:r>
            <a:r>
              <a:rPr lang="en-US" sz="2200" dirty="0">
                <a:latin typeface="Palatino Linotype" panose="02040502050505030304" pitchFamily="18" charset="0"/>
              </a:rPr>
              <a:t/>
            </a:r>
            <a:br>
              <a:rPr lang="en-US" sz="2200" dirty="0">
                <a:latin typeface="Palatino Linotype" panose="02040502050505030304" pitchFamily="18" charset="0"/>
              </a:rPr>
            </a:br>
            <a:r>
              <a:rPr lang="en-US" sz="2200" dirty="0">
                <a:latin typeface="Palatino Linotype" panose="02040502050505030304" pitchFamily="18" charset="0"/>
              </a:rPr>
              <a:t/>
            </a:r>
            <a:br>
              <a:rPr lang="en-US" sz="2200" dirty="0">
                <a:latin typeface="Palatino Linotype" panose="02040502050505030304" pitchFamily="18" charset="0"/>
              </a:rPr>
            </a:br>
            <a:endParaRPr lang="en-US" sz="2200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292" y="1382774"/>
            <a:ext cx="7886700" cy="3263504"/>
          </a:xfrm>
        </p:spPr>
        <p:txBody>
          <a:bodyPr>
            <a:normAutofit fontScale="25000" lnSpcReduction="20000"/>
          </a:bodyPr>
          <a:lstStyle/>
          <a:p>
            <a:r>
              <a:rPr lang="en-US" sz="4800" dirty="0">
                <a:latin typeface="Palatino Linotype" panose="02040502050505030304" pitchFamily="18" charset="0"/>
              </a:rPr>
              <a:t>GPA Requirement</a:t>
            </a:r>
          </a:p>
          <a:p>
            <a:pPr marL="0" indent="0">
              <a:buNone/>
            </a:pPr>
            <a:r>
              <a:rPr lang="en-US" sz="4800" dirty="0">
                <a:latin typeface="Palatino Linotype" panose="02040502050505030304" pitchFamily="18" charset="0"/>
              </a:rPr>
              <a:t>    - 3.25 or higher undergraduate degree for incoming graduate students</a:t>
            </a:r>
          </a:p>
          <a:p>
            <a:pPr marL="0" indent="0">
              <a:buNone/>
            </a:pPr>
            <a:r>
              <a:rPr lang="en-US" sz="4800" dirty="0">
                <a:latin typeface="Palatino Linotype" panose="02040502050505030304" pitchFamily="18" charset="0"/>
              </a:rPr>
              <a:t>    - 3.66 or higher overall program GPA for current graduate students </a:t>
            </a:r>
          </a:p>
          <a:p>
            <a:pPr marL="0" indent="0">
              <a:buNone/>
            </a:pPr>
            <a:r>
              <a:rPr lang="en-US" sz="4800" dirty="0">
                <a:latin typeface="Palatino Linotype" panose="02040502050505030304" pitchFamily="18" charset="0"/>
              </a:rPr>
              <a:t>    - Waivers are competitive and will be given to those w/the highest masters-level GPA</a:t>
            </a:r>
          </a:p>
          <a:p>
            <a:pPr marL="0" indent="0">
              <a:buNone/>
            </a:pPr>
            <a:r>
              <a:rPr lang="en-US" sz="4800" dirty="0">
                <a:latin typeface="Palatino Linotype" panose="02040502050505030304" pitchFamily="18" charset="0"/>
              </a:rPr>
              <a:t>     - Waivers are NOT guaranteed</a:t>
            </a:r>
          </a:p>
          <a:p>
            <a:pPr marL="0" indent="0">
              <a:buNone/>
            </a:pPr>
            <a:endParaRPr lang="en-US" sz="4800" dirty="0">
              <a:latin typeface="Palatino Linotype" panose="02040502050505030304" pitchFamily="18" charset="0"/>
            </a:endParaRPr>
          </a:p>
          <a:p>
            <a:r>
              <a:rPr lang="en-US" sz="4800" dirty="0">
                <a:latin typeface="Palatino Linotype" panose="02040502050505030304" pitchFamily="18" charset="0"/>
              </a:rPr>
              <a:t>Must be registered for classes before submitting the application</a:t>
            </a:r>
          </a:p>
          <a:p>
            <a:endParaRPr lang="en-US" sz="4800" dirty="0">
              <a:latin typeface="Palatino Linotype" panose="02040502050505030304" pitchFamily="18" charset="0"/>
            </a:endParaRPr>
          </a:p>
          <a:p>
            <a:r>
              <a:rPr lang="en-US" sz="4800" dirty="0">
                <a:latin typeface="Palatino Linotype" panose="02040502050505030304" pitchFamily="18" charset="0"/>
              </a:rPr>
              <a:t>OSTW covers out of state portion of tuition per credit hour, does not cover student fees, online courses, certificate/foundation courses.</a:t>
            </a:r>
          </a:p>
          <a:p>
            <a:pPr lvl="1"/>
            <a:r>
              <a:rPr lang="en-US" sz="4800" dirty="0">
                <a:cs typeface="Calibri"/>
              </a:rPr>
              <a:t>Each department awards their own waivers.</a:t>
            </a:r>
          </a:p>
          <a:p>
            <a:pPr lvl="1"/>
            <a:r>
              <a:rPr lang="en-US" sz="4800" dirty="0">
                <a:cs typeface="Calibri"/>
              </a:rPr>
              <a:t>The students keep the waivers while they are still qualified, and their credit hours do not exceed 30.</a:t>
            </a:r>
          </a:p>
          <a:p>
            <a:pPr lvl="1"/>
            <a:r>
              <a:rPr lang="en-US" sz="4800" dirty="0">
                <a:cs typeface="Calibri"/>
              </a:rPr>
              <a:t>A student might have a waiver for as long as two years (first semester summer 2023 - 3 courses, fall 2023 - 3 courses, spring 2024 - 3 courses, summer 2024 one course)</a:t>
            </a:r>
            <a:endParaRPr lang="en-US" sz="4800" dirty="0"/>
          </a:p>
          <a:p>
            <a:pPr marL="0" indent="0">
              <a:buNone/>
            </a:pPr>
            <a:endParaRPr lang="en-US" sz="4800" dirty="0">
              <a:latin typeface="Palatino Linotype" panose="02040502050505030304" pitchFamily="18" charset="0"/>
            </a:endParaRPr>
          </a:p>
          <a:p>
            <a:r>
              <a:rPr lang="en-US" sz="4800" dirty="0">
                <a:latin typeface="Palatino Linotype" panose="02040502050505030304" pitchFamily="18" charset="0"/>
              </a:rPr>
              <a:t>More information and application deadlines, </a:t>
            </a:r>
            <a:r>
              <a:rPr lang="en-US" sz="4800" u="sng" dirty="0">
                <a:latin typeface="Palatino Linotype" panose="02040502050505030304" pitchFamily="18" charset="0"/>
                <a:hlinkClick r:id="rId2"/>
              </a:rPr>
              <a:t> </a:t>
            </a:r>
            <a:r>
              <a:rPr lang="en-US" sz="4800" dirty="0">
                <a:hlinkClick r:id="rId3"/>
              </a:rPr>
              <a:t> https://ccse.kennesaw.edu/resources/ostw.php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83069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Palatino Linotype" panose="02040502050505030304" pitchFamily="18" charset="0"/>
              </a:rPr>
              <a:t>Internships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1800" dirty="0">
                <a:latin typeface="Palatino Linotype" panose="02040502050505030304" pitchFamily="18" charset="0"/>
              </a:rPr>
              <a:t>Darin Morrow(</a:t>
            </a:r>
            <a:r>
              <a:rPr lang="en-US" sz="1800" dirty="0">
                <a:latin typeface="Palatino Linotype" panose="02040502050505030304" pitchFamily="18" charset="0"/>
                <a:hlinkClick r:id="rId2"/>
              </a:rPr>
              <a:t>ccseinternship@kennesaw.edu</a:t>
            </a:r>
            <a:r>
              <a:rPr lang="en-US" sz="1800" dirty="0">
                <a:latin typeface="Palatino Linotype" panose="02040502050505030304" pitchFamily="18" charset="0"/>
              </a:rPr>
              <a:t>) </a:t>
            </a:r>
            <a:r>
              <a:rPr lang="en-US" sz="1800" dirty="0">
                <a:latin typeface="Palatino Linotype" panose="02040502050505030304" pitchFamily="18" charset="0"/>
                <a:hlinkClick r:id="rId3"/>
              </a:rPr>
              <a:t>-</a:t>
            </a:r>
            <a:r>
              <a:rPr lang="en-US" sz="1800" dirty="0">
                <a:latin typeface="Palatino Linotype" panose="02040502050505030304" pitchFamily="18" charset="0"/>
              </a:rPr>
              <a:t> Internship Coordinator</a:t>
            </a:r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2036133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b="1" dirty="0">
                <a:latin typeface="Palatino Linotype" panose="02040502050505030304" pitchFamily="18" charset="0"/>
              </a:rPr>
              <a:t>Requirements</a:t>
            </a:r>
          </a:p>
          <a:p>
            <a:r>
              <a:rPr lang="en-US" dirty="0">
                <a:latin typeface="Palatino Linotype" panose="02040502050505030304" pitchFamily="18" charset="0"/>
              </a:rPr>
              <a:t>3 credit hour elective course, must meet the course prereq before registering</a:t>
            </a:r>
          </a:p>
          <a:p>
            <a:r>
              <a:rPr lang="en-US" dirty="0">
                <a:latin typeface="Palatino Linotype" panose="02040502050505030304" pitchFamily="18" charset="0"/>
              </a:rPr>
              <a:t>Can be taken only once </a:t>
            </a:r>
          </a:p>
          <a:p>
            <a:r>
              <a:rPr lang="en-US" dirty="0">
                <a:latin typeface="Palatino Linotype" panose="02040502050505030304" pitchFamily="18" charset="0"/>
              </a:rPr>
              <a:t>Work with your program advisor for best time to take an internship, it varies by program.</a:t>
            </a:r>
          </a:p>
          <a:p>
            <a:r>
              <a:rPr lang="en-US" dirty="0">
                <a:latin typeface="Palatino Linotype" panose="02040502050505030304" pitchFamily="18" charset="0"/>
              </a:rPr>
              <a:t>If you are an international student, you must complete two semesters before applying for the internship and you must contact the International Office as well.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 marL="0" lvl="1" indent="0" algn="ctr">
              <a:spcBef>
                <a:spcPts val="0"/>
              </a:spcBef>
              <a:buNone/>
            </a:pPr>
            <a:r>
              <a:rPr lang="en-US" sz="2100" b="1" dirty="0"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Corporation Partnerships</a:t>
            </a:r>
          </a:p>
          <a:p>
            <a:pPr marL="285750" lvl="1" indent="-285750">
              <a:spcBef>
                <a:spcPts val="0"/>
              </a:spcBef>
            </a:pPr>
            <a:endParaRPr lang="en-US" sz="1100" dirty="0">
              <a:latin typeface="Palatino Linotype" panose="020405020505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1" indent="-285750">
              <a:spcBef>
                <a:spcPts val="0"/>
              </a:spcBef>
            </a:pPr>
            <a:r>
              <a:rPr lang="en-US" sz="2100" dirty="0"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ADP</a:t>
            </a:r>
          </a:p>
          <a:p>
            <a:pPr marL="285750" lvl="1" indent="-285750">
              <a:spcBef>
                <a:spcPts val="0"/>
              </a:spcBef>
            </a:pPr>
            <a:r>
              <a:rPr lang="en-US" sz="2100" dirty="0"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Best Buy</a:t>
            </a:r>
          </a:p>
          <a:p>
            <a:pPr marL="285750" lvl="1" indent="-285750">
              <a:spcBef>
                <a:spcPts val="0"/>
              </a:spcBef>
            </a:pPr>
            <a:r>
              <a:rPr lang="en-US" sz="2100" dirty="0"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Comcast</a:t>
            </a:r>
          </a:p>
          <a:p>
            <a:pPr marL="285750" lvl="1" indent="-285750">
              <a:spcBef>
                <a:spcPts val="0"/>
              </a:spcBef>
            </a:pPr>
            <a:r>
              <a:rPr lang="en-US" sz="2100" dirty="0"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Georgia Department of Audits</a:t>
            </a:r>
          </a:p>
          <a:p>
            <a:pPr marL="285750" lvl="1" indent="-285750">
              <a:spcBef>
                <a:spcPts val="0"/>
              </a:spcBef>
            </a:pPr>
            <a:r>
              <a:rPr lang="en-US" sz="2100" dirty="0"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Home Depot</a:t>
            </a:r>
          </a:p>
          <a:p>
            <a:pPr marL="285750" lvl="1" indent="-285750">
              <a:spcBef>
                <a:spcPts val="0"/>
              </a:spcBef>
            </a:pPr>
            <a:r>
              <a:rPr lang="en-US" sz="2100" dirty="0"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ING</a:t>
            </a:r>
          </a:p>
          <a:p>
            <a:pPr marL="285750" lvl="1" indent="-285750">
              <a:spcBef>
                <a:spcPts val="0"/>
              </a:spcBef>
            </a:pPr>
            <a:r>
              <a:rPr lang="en-US" sz="2100" dirty="0"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Porsche Business Services</a:t>
            </a:r>
          </a:p>
          <a:p>
            <a:pPr marL="285750" lvl="1" indent="-285750">
              <a:spcBef>
                <a:spcPts val="0"/>
              </a:spcBef>
            </a:pPr>
            <a:r>
              <a:rPr lang="en-US" sz="2100" dirty="0"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Pricewaterhouse Coopers</a:t>
            </a:r>
          </a:p>
          <a:p>
            <a:pPr marL="285750" lvl="1" indent="-285750">
              <a:spcBef>
                <a:spcPts val="0"/>
              </a:spcBef>
            </a:pPr>
            <a:r>
              <a:rPr lang="en-US" sz="2100" dirty="0"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Georgia General Assembly</a:t>
            </a:r>
          </a:p>
          <a:p>
            <a:pPr marL="285750" lvl="1" indent="-285750">
              <a:spcBef>
                <a:spcPts val="0"/>
              </a:spcBef>
            </a:pPr>
            <a:r>
              <a:rPr lang="en-US" sz="2100" dirty="0"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AT&amp;T</a:t>
            </a:r>
          </a:p>
          <a:p>
            <a:pPr marL="285750" lvl="1" indent="-285750">
              <a:spcBef>
                <a:spcPts val="0"/>
              </a:spcBef>
            </a:pPr>
            <a:r>
              <a:rPr lang="en-US" sz="2100" dirty="0"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UPS</a:t>
            </a:r>
          </a:p>
          <a:p>
            <a:pPr marL="285750" lvl="1" indent="-285750">
              <a:spcBef>
                <a:spcPts val="0"/>
              </a:spcBef>
            </a:pPr>
            <a:r>
              <a:rPr lang="en-US" sz="2100" dirty="0"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Henssler Financial Group</a:t>
            </a:r>
          </a:p>
          <a:p>
            <a:pPr marL="285750" lvl="1" indent="-285750"/>
            <a:r>
              <a:rPr lang="en-US" sz="2100" dirty="0"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Bose</a:t>
            </a:r>
          </a:p>
          <a:p>
            <a:pPr marL="285750" lvl="1" indent="-285750">
              <a:spcBef>
                <a:spcPts val="0"/>
              </a:spcBef>
            </a:pPr>
            <a:r>
              <a:rPr lang="en-US" sz="2100" dirty="0"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Fifth Third Bank</a:t>
            </a:r>
          </a:p>
          <a:p>
            <a:pPr marL="285750" lvl="1" indent="-285750">
              <a:spcBef>
                <a:spcPts val="0"/>
              </a:spcBef>
            </a:pPr>
            <a:r>
              <a:rPr lang="en-US" sz="2100" dirty="0"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JP Morgan </a:t>
            </a:r>
            <a:r>
              <a:rPr lang="en-US" sz="2100" dirty="0" smtClean="0"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Chase</a:t>
            </a:r>
          </a:p>
          <a:p>
            <a:pPr marL="285750" lvl="1" indent="-285750">
              <a:spcBef>
                <a:spcPts val="0"/>
              </a:spcBef>
            </a:pPr>
            <a:r>
              <a:rPr lang="en-US" sz="2100" dirty="0" smtClean="0"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Google</a:t>
            </a:r>
            <a:endParaRPr lang="en-US" sz="2100" dirty="0">
              <a:latin typeface="Palatino Linotype" panose="020405020505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1" indent="-285750">
              <a:spcBef>
                <a:spcPts val="0"/>
              </a:spcBef>
            </a:pPr>
            <a:endParaRPr lang="en-US" sz="1100" dirty="0">
              <a:latin typeface="Palatino Linotype" panose="020405020505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198" y="3314645"/>
            <a:ext cx="2231329" cy="1487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094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6715" y="424069"/>
            <a:ext cx="73483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Palatino Linotype" panose="02040502050505030304" pitchFamily="18" charset="0"/>
              </a:rPr>
              <a:t>Thank You!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509" y="1193510"/>
            <a:ext cx="5223641" cy="2529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51654" y="3842290"/>
            <a:ext cx="3518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Palatino Linotype" panose="02040502050505030304" pitchFamily="18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89566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12808</TotalTime>
  <Words>961</Words>
  <Application>Microsoft Office PowerPoint</Application>
  <PresentationFormat>On-screen Show (16:9)</PresentationFormat>
  <Paragraphs>161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Palatino Linotype</vt:lpstr>
      <vt:lpstr>Times New Roman</vt:lpstr>
      <vt:lpstr>Office Theme</vt:lpstr>
      <vt:lpstr>    The College of Computing and Software Engineering at  Kennesaw State University   </vt:lpstr>
      <vt:lpstr>Administrators </vt:lpstr>
      <vt:lpstr>Program Coordinators</vt:lpstr>
      <vt:lpstr>Academic Policies</vt:lpstr>
      <vt:lpstr>Academic Integrity</vt:lpstr>
      <vt:lpstr>Preparing for Registration</vt:lpstr>
      <vt:lpstr>Registration</vt:lpstr>
      <vt:lpstr>Registration Holds</vt:lpstr>
      <vt:lpstr>Financial Aid</vt:lpstr>
      <vt:lpstr>Program of Study</vt:lpstr>
      <vt:lpstr> Financial Assistance Programs GRA/GTAs https://ccse.kennesaw.edu/student-resources/fa_apps.php  </vt:lpstr>
      <vt:lpstr> CCSE Out-of-State Tuition Waiver (OSTW)  </vt:lpstr>
      <vt:lpstr>Internships Darin Morrow(ccseinternship@kennesaw.edu) - Internship Coordinator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Lucy Kimundi</dc:creator>
  <cp:lastModifiedBy>Melinda Ross</cp:lastModifiedBy>
  <cp:revision>201</cp:revision>
  <dcterms:created xsi:type="dcterms:W3CDTF">2019-02-15T21:19:03Z</dcterms:created>
  <dcterms:modified xsi:type="dcterms:W3CDTF">2023-08-04T22:02:10Z</dcterms:modified>
</cp:coreProperties>
</file>